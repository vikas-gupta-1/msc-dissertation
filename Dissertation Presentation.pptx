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Glacial Indifference" panose="020B0604020202020204" charset="0"/>
      <p:regular r:id="rId21"/>
    </p:embeddedFont>
    <p:embeddedFont>
      <p:font typeface="Glacial Indifference Bold" panose="020B0604020202020204" charset="0"/>
      <p:regular r:id="rId22"/>
    </p:embeddedFont>
    <p:embeddedFont>
      <p:font typeface="League Spartan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97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043EF-826A-499C-B011-F4C6A13AA74D}" type="datetimeFigureOut">
              <a:rPr lang="en-US" smtClean="0"/>
              <a:t>2025-11-14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AC38E-828B-4A21-A05D-850ECDB3A2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753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Most stock returns are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driven by market-wide or currency factors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not company-specific factors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Even large firms like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Apple (USA)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Siemens (Europe)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show minimal impact from firm characteristics in explaining daily/monthly returns</a:t>
            </a:r>
          </a:p>
          <a:p>
            <a:pPr marL="342900" marR="0" lvl="0" indent="-342900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Panel OLS confirms that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macro-level events dominate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making firm-level analysis less predictive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CAC38E-828B-4A21-A05D-850ECDB3A2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811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2025-11-14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299043">
            <a:off x="-1746670" y="4230785"/>
            <a:ext cx="11240987" cy="1825430"/>
          </a:xfrm>
          <a:custGeom>
            <a:avLst/>
            <a:gdLst/>
            <a:ahLst/>
            <a:cxnLst/>
            <a:rect l="l" t="t" r="r" b="b"/>
            <a:pathLst>
              <a:path w="11240987" h="1825430">
                <a:moveTo>
                  <a:pt x="0" y="0"/>
                </a:moveTo>
                <a:lnTo>
                  <a:pt x="11240987" y="0"/>
                </a:lnTo>
                <a:lnTo>
                  <a:pt x="11240987" y="1825430"/>
                </a:lnTo>
                <a:lnTo>
                  <a:pt x="0" y="1825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699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1107706">
            <a:off x="-921467" y="-1570623"/>
            <a:ext cx="5280133" cy="12462121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4299043">
            <a:off x="-2646668" y="4025505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1107706">
            <a:off x="-1880460" y="-1819814"/>
            <a:ext cx="5280133" cy="12462121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237004" y="2838002"/>
            <a:ext cx="13050996" cy="202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1"/>
              </a:lnSpc>
            </a:pPr>
            <a:r>
              <a:rPr lang="en-US" sz="390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 OF CURRENCY VOLATILITY ON STOCK RETURNS OF EXPORT-ORIENTED FIRMS IN USA AND EUROPE (2010–2024)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09512" y="5026970"/>
            <a:ext cx="9881374" cy="897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05"/>
              </a:lnSpc>
            </a:pPr>
            <a:r>
              <a:rPr lang="en-US" sz="5218" spc="36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MSC FINANCE DISSERTATION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96841" y="6134236"/>
            <a:ext cx="8706716" cy="543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3202" spc="22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Vikas Gupta | Dublin City University | 2025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80144" y="6887601"/>
            <a:ext cx="6164716" cy="543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3"/>
              </a:lnSpc>
            </a:pPr>
            <a:r>
              <a:rPr lang="en-US" sz="3202" spc="224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Supervised by Dr Tongbin Xu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800474">
            <a:off x="9943552" y="4172986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9392774">
            <a:off x="15113824" y="-485784"/>
            <a:ext cx="5280133" cy="12462121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6800474">
            <a:off x="10925197" y="4294216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9392774">
            <a:off x="16047496" y="-154090"/>
            <a:ext cx="5280133" cy="12462121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35007" y="847725"/>
            <a:ext cx="7447815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ABSTRACT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8945" y="2870476"/>
            <a:ext cx="12943228" cy="5981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8807" lvl="1" indent="-364403" algn="just">
              <a:lnSpc>
                <a:spcPts val="4725"/>
              </a:lnSpc>
              <a:buFont typeface="Arial"/>
              <a:buChar char="•"/>
            </a:pPr>
            <a:r>
              <a:rPr lang="en-US" sz="3375" spc="23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Study explores impact of USD/EUR exchange rate fluctuations on exporters’ stock returns (2010–2024).</a:t>
            </a:r>
          </a:p>
          <a:p>
            <a:pPr marL="728807" lvl="1" indent="-364403" algn="just">
              <a:lnSpc>
                <a:spcPts val="4725"/>
              </a:lnSpc>
              <a:buFont typeface="Arial"/>
              <a:buChar char="•"/>
            </a:pPr>
            <a:r>
              <a:rPr lang="en-US" sz="3375" spc="23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Uses panel data from USA &amp; Europe (ECB, Refinitiv).</a:t>
            </a:r>
          </a:p>
          <a:p>
            <a:pPr marL="728807" lvl="1" indent="-364403" algn="just">
              <a:lnSpc>
                <a:spcPts val="4725"/>
              </a:lnSpc>
              <a:buFont typeface="Arial"/>
              <a:buChar char="•"/>
            </a:pPr>
            <a:r>
              <a:rPr lang="en-US" sz="3375" spc="23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Models: Standard Deviation, GARCH, EGARCH for volatility; panel regressions for stock returns.</a:t>
            </a:r>
          </a:p>
          <a:p>
            <a:pPr marL="728807" lvl="1" indent="-364403" algn="just">
              <a:lnSpc>
                <a:spcPts val="4725"/>
              </a:lnSpc>
              <a:buFont typeface="Arial"/>
              <a:buChar char="•"/>
            </a:pPr>
            <a:r>
              <a:rPr lang="en-US" sz="3375" spc="23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Findings: Currency volatility significantly affects stock returns, stronger for European firms.</a:t>
            </a:r>
          </a:p>
          <a:p>
            <a:pPr marL="728807" lvl="1" indent="-364403" algn="just">
              <a:lnSpc>
                <a:spcPts val="4725"/>
              </a:lnSpc>
              <a:buFont typeface="Arial"/>
              <a:buChar char="•"/>
            </a:pPr>
            <a:r>
              <a:rPr lang="en-US" sz="3375" spc="23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Implications: For investors, managers, and policy-makers in risk management.</a:t>
            </a:r>
          </a:p>
          <a:p>
            <a:pPr algn="just">
              <a:lnSpc>
                <a:spcPts val="4725"/>
              </a:lnSpc>
            </a:pPr>
            <a:endParaRPr lang="en-US" sz="3375" spc="236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35007" y="2508885"/>
            <a:ext cx="694232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20834">
            <a:off x="-1286186" y="7656554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8220834">
            <a:off x="-1598870" y="8278662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06975" y="914400"/>
            <a:ext cx="16852325" cy="101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MOTIVATION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93787" y="2470785"/>
            <a:ext cx="8457523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0" y="3968558"/>
            <a:ext cx="18288000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Globalization → higher financial interdependence and exposure to FX risk.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Events like Brexit, COVID-19, Russia-Ukraine war caused extreme volatility.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Exporters’ profits &amp; competitiveness directly affected by currency fluctuations.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Importance: Understanding currency risk aids corporate managers, investors, and policymakers.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20834">
            <a:off x="-1286186" y="7656554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8220834">
            <a:off x="-1598870" y="8278662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06975" y="914400"/>
            <a:ext cx="16852325" cy="101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RESEARCH QUESTION &amp; OBJECTIVES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93787" y="2470785"/>
            <a:ext cx="8457523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06975" y="2927985"/>
            <a:ext cx="16302063" cy="166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sz="48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does currency volatility affect stock returns of export-oriented firms in USA &amp; Europe?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57621" y="4835619"/>
            <a:ext cx="15512455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Objectives:</a:t>
            </a: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Examine long-run impact of USD/EUR fluctuations on stock returns.</a:t>
            </a: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Compare US vs European firms’ sensitivity.</a:t>
            </a: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Assess effect of global events (COVID-19, Ukraine war).</a:t>
            </a:r>
          </a:p>
          <a:p>
            <a:pPr marL="863599" lvl="1" indent="-431800" algn="just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Provide risk management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60925" y="7665293"/>
            <a:ext cx="18336773" cy="3186014"/>
          </a:xfrm>
          <a:custGeom>
            <a:avLst/>
            <a:gdLst/>
            <a:ahLst/>
            <a:cxnLst/>
            <a:rect l="l" t="t" r="r" b="b"/>
            <a:pathLst>
              <a:path w="18336773" h="3186014">
                <a:moveTo>
                  <a:pt x="0" y="0"/>
                </a:moveTo>
                <a:lnTo>
                  <a:pt x="18336773" y="0"/>
                </a:lnTo>
                <a:lnTo>
                  <a:pt x="18336773" y="3186014"/>
                </a:lnTo>
                <a:lnTo>
                  <a:pt x="0" y="318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7806054" y="-402391"/>
            <a:ext cx="2675891" cy="20328738"/>
            <a:chOff x="0" y="0"/>
            <a:chExt cx="432040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2040" cy="3282205"/>
            </a:xfrm>
            <a:custGeom>
              <a:avLst/>
              <a:gdLst/>
              <a:ahLst/>
              <a:cxnLst/>
              <a:rect l="l" t="t" r="r" b="b"/>
              <a:pathLst>
                <a:path w="432040" h="3282205">
                  <a:moveTo>
                    <a:pt x="0" y="0"/>
                  </a:moveTo>
                  <a:lnTo>
                    <a:pt x="432040" y="0"/>
                  </a:lnTo>
                  <a:lnTo>
                    <a:pt x="432040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2040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10766903">
            <a:off x="-46013" y="8512224"/>
            <a:ext cx="18336773" cy="3186014"/>
          </a:xfrm>
          <a:custGeom>
            <a:avLst/>
            <a:gdLst/>
            <a:ahLst/>
            <a:cxnLst/>
            <a:rect l="l" t="t" r="r" b="b"/>
            <a:pathLst>
              <a:path w="18336773" h="3186014">
                <a:moveTo>
                  <a:pt x="0" y="0"/>
                </a:moveTo>
                <a:lnTo>
                  <a:pt x="18336773" y="0"/>
                </a:lnTo>
                <a:lnTo>
                  <a:pt x="18336773" y="3186015"/>
                </a:lnTo>
                <a:lnTo>
                  <a:pt x="0" y="3186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5426346">
            <a:off x="8735248" y="-59138"/>
            <a:ext cx="1489766" cy="20328738"/>
            <a:chOff x="0" y="0"/>
            <a:chExt cx="24053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0532" cy="3282205"/>
            </a:xfrm>
            <a:custGeom>
              <a:avLst/>
              <a:gdLst/>
              <a:ahLst/>
              <a:cxnLst/>
              <a:rect l="l" t="t" r="r" b="b"/>
              <a:pathLst>
                <a:path w="240532" h="3282205">
                  <a:moveTo>
                    <a:pt x="0" y="0"/>
                  </a:moveTo>
                  <a:lnTo>
                    <a:pt x="240532" y="0"/>
                  </a:lnTo>
                  <a:lnTo>
                    <a:pt x="24053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93E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053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989745" y="438150"/>
            <a:ext cx="13523494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LITERATURE REVIEW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0" y="2851426"/>
            <a:ext cx="17858151" cy="7194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spc="2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Currency risk affects firm value via revenues, costs, profitability, and stock returns (Solnik, 1987; Shapiro, 1975).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spc="2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Empirical evidence mixed: positive, negative, or insignificant impacts on stock returns.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spc="2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Developed markets show differing sensitivity by firm size, leverage, and export intensity.</a:t>
            </a:r>
          </a:p>
          <a:p>
            <a:pPr marL="863599" lvl="1" indent="-431800" algn="ctr">
              <a:lnSpc>
                <a:spcPts val="5599"/>
              </a:lnSpc>
              <a:buFont typeface="Arial"/>
              <a:buChar char="•"/>
            </a:pPr>
            <a:r>
              <a:rPr lang="en-US" sz="3999" spc="2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Gap: Few studies cover 2010–2024 period for developed-market exporters.</a:t>
            </a:r>
          </a:p>
          <a:p>
            <a:pPr algn="ctr">
              <a:lnSpc>
                <a:spcPts val="12914"/>
              </a:lnSpc>
            </a:pPr>
            <a:endParaRPr lang="en-US" sz="3999" spc="279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3918643" y="2508885"/>
            <a:ext cx="1036660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20834">
            <a:off x="-1286186" y="7656554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8220834">
            <a:off x="-1598870" y="8278662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2509753">
            <a:off x="11932945" y="1699739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7916504">
            <a:off x="14902810" y="-3399499"/>
            <a:ext cx="3716898" cy="8772589"/>
            <a:chOff x="0" y="0"/>
            <a:chExt cx="1390652" cy="32822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2509753">
            <a:off x="13104828" y="1699739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 rot="7916504">
            <a:off x="16219210" y="-3249089"/>
            <a:ext cx="3716898" cy="8772589"/>
            <a:chOff x="0" y="0"/>
            <a:chExt cx="1390652" cy="32822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188089" y="847725"/>
            <a:ext cx="8779267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HYPOTHESES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2847783"/>
            <a:ext cx="15732559" cy="574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spc="2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H1</a:t>
            </a:r>
            <a:r>
              <a:rPr lang="en-US" sz="3999" spc="2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Exchange rate volatility negatively impacts stock returns of exporters.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spc="2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H2</a:t>
            </a:r>
            <a:r>
              <a:rPr lang="en-US" sz="3999" spc="2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Sensitivity to FX volatility differs between US and European firms; stronger in Europe.</a:t>
            </a: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b="1" spc="27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H3</a:t>
            </a:r>
            <a:r>
              <a:rPr lang="en-US" sz="3999" spc="27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COVID-19 &amp; Russia-Ukraine war significantly affect stock returns.</a:t>
            </a:r>
          </a:p>
          <a:p>
            <a:pPr algn="l">
              <a:lnSpc>
                <a:spcPts val="12599"/>
              </a:lnSpc>
            </a:pPr>
            <a:endParaRPr lang="en-US" sz="3999" spc="279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260495" y="2470785"/>
            <a:ext cx="7706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44455">
            <a:off x="11086835" y="6724152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8548794">
            <a:off x="16046655" y="2579751"/>
            <a:ext cx="5280133" cy="12462121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7644455">
            <a:off x="12009581" y="7080331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8548794">
            <a:off x="16871715" y="3128423"/>
            <a:ext cx="5280133" cy="12462121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3234064">
            <a:off x="-3143540" y="372199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3234064">
            <a:off x="-4074180" y="17873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476953" y="1155573"/>
            <a:ext cx="13182093" cy="135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64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EMPIRICAL DESIGN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72724" y="3067566"/>
            <a:ext cx="16786576" cy="6033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7454" lvl="1" indent="-373727" algn="l">
              <a:lnSpc>
                <a:spcPts val="4846"/>
              </a:lnSpc>
              <a:buFont typeface="Arial"/>
              <a:buChar char="•"/>
            </a:pPr>
            <a:r>
              <a:rPr lang="en-US" sz="3462" spc="24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Dependent Variable: Stock returns Rit=ln(Pit)−ln(Pit−1)R_{it} = ln(P_{it}) - ln(P_{it-1})Rit​=ln(Pit​)−ln(Pit−1​)</a:t>
            </a:r>
          </a:p>
          <a:p>
            <a:pPr marL="747454" lvl="1" indent="-373727" algn="l">
              <a:lnSpc>
                <a:spcPts val="4846"/>
              </a:lnSpc>
              <a:buFont typeface="Arial"/>
              <a:buChar char="•"/>
            </a:pPr>
            <a:r>
              <a:rPr lang="en-US" sz="3462" spc="24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Independent Variable: Exchange rate volatility (EUR/USD)</a:t>
            </a:r>
          </a:p>
          <a:p>
            <a:pPr marL="747454" lvl="1" indent="-373727" algn="l">
              <a:lnSpc>
                <a:spcPts val="4846"/>
              </a:lnSpc>
              <a:buFont typeface="Arial"/>
              <a:buChar char="•"/>
            </a:pPr>
            <a:r>
              <a:rPr lang="en-US" sz="3462" spc="24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Standard Deviation of monthly returns</a:t>
            </a:r>
          </a:p>
          <a:p>
            <a:pPr marL="747454" lvl="1" indent="-373727" algn="l">
              <a:lnSpc>
                <a:spcPts val="4846"/>
              </a:lnSpc>
              <a:buFont typeface="Arial"/>
              <a:buChar char="•"/>
            </a:pPr>
            <a:r>
              <a:rPr lang="en-US" sz="3462" spc="24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GARCH(1,1) &amp; EGARCH(1,1) models for asymmetric volatility</a:t>
            </a:r>
          </a:p>
          <a:p>
            <a:pPr marL="747454" lvl="1" indent="-373727" algn="l">
              <a:lnSpc>
                <a:spcPts val="4846"/>
              </a:lnSpc>
              <a:buFont typeface="Arial"/>
              <a:buChar char="•"/>
            </a:pPr>
            <a:r>
              <a:rPr lang="en-US" sz="3462" spc="24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Control Variables:</a:t>
            </a:r>
          </a:p>
          <a:p>
            <a:pPr marL="747454" lvl="1" indent="-373727" algn="l">
              <a:lnSpc>
                <a:spcPts val="4846"/>
              </a:lnSpc>
              <a:buFont typeface="Arial"/>
              <a:buChar char="•"/>
            </a:pPr>
            <a:r>
              <a:rPr lang="en-US" sz="3462" spc="24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Firm-level: Size, Leverage, ROE, Foreign exposure, Industry/Country dummies</a:t>
            </a:r>
          </a:p>
          <a:p>
            <a:pPr marL="747454" lvl="1" indent="-373727" algn="l">
              <a:lnSpc>
                <a:spcPts val="4846"/>
              </a:lnSpc>
              <a:buFont typeface="Arial"/>
              <a:buChar char="•"/>
            </a:pPr>
            <a:r>
              <a:rPr lang="en-US" sz="3462" spc="242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Macroeconomic: Interest rates, Inflation</a:t>
            </a:r>
          </a:p>
          <a:p>
            <a:pPr algn="l">
              <a:lnSpc>
                <a:spcPts val="4846"/>
              </a:lnSpc>
            </a:pPr>
            <a:endParaRPr lang="en-US" sz="3462" spc="242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0" name="AutoShape 20"/>
          <p:cNvSpPr/>
          <p:nvPr/>
        </p:nvSpPr>
        <p:spPr>
          <a:xfrm flipV="1">
            <a:off x="3525236" y="2508885"/>
            <a:ext cx="1183622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234064">
            <a:off x="-3143540" y="352885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3234064">
            <a:off x="-4074180" y="17873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329753" y="1133475"/>
            <a:ext cx="14975742" cy="13533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64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SAMPLE &amp; COVERAGE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04050" y="5052017"/>
            <a:ext cx="837064" cy="837064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694881" y="3043720"/>
            <a:ext cx="14564419" cy="5595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92083" lvl="1" indent="-496041" algn="l">
              <a:lnSpc>
                <a:spcPts val="6433"/>
              </a:lnSpc>
              <a:buFont typeface="Arial"/>
              <a:buChar char="•"/>
            </a:pPr>
            <a:r>
              <a:rPr lang="en-US" sz="4595" spc="32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Timeframe: 2010–2024</a:t>
            </a:r>
          </a:p>
          <a:p>
            <a:pPr marL="992083" lvl="1" indent="-496041" algn="l">
              <a:lnSpc>
                <a:spcPts val="6433"/>
              </a:lnSpc>
              <a:buFont typeface="Arial"/>
              <a:buChar char="•"/>
            </a:pPr>
            <a:r>
              <a:rPr lang="en-US" sz="4595" spc="32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Regions: USA, Europe (Germany, France, Netherlands and Ireland)</a:t>
            </a:r>
          </a:p>
          <a:p>
            <a:pPr marL="992083" lvl="1" indent="-496041" algn="l">
              <a:lnSpc>
                <a:spcPts val="6433"/>
              </a:lnSpc>
              <a:buFont typeface="Arial"/>
              <a:buChar char="•"/>
            </a:pPr>
            <a:r>
              <a:rPr lang="en-US" sz="4595" spc="32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Firms: Publicly listed, export-oriented, various sectors (Tech, Auto, FMCG, Pharma, Industrials)</a:t>
            </a:r>
          </a:p>
          <a:p>
            <a:pPr algn="l">
              <a:lnSpc>
                <a:spcPts val="6433"/>
              </a:lnSpc>
            </a:pPr>
            <a:endParaRPr lang="en-US" sz="4595" spc="321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50376" y="7915718"/>
            <a:ext cx="18336773" cy="3186014"/>
          </a:xfrm>
          <a:custGeom>
            <a:avLst/>
            <a:gdLst/>
            <a:ahLst/>
            <a:cxnLst/>
            <a:rect l="l" t="t" r="r" b="b"/>
            <a:pathLst>
              <a:path w="18336773" h="3186014">
                <a:moveTo>
                  <a:pt x="0" y="0"/>
                </a:moveTo>
                <a:lnTo>
                  <a:pt x="18336773" y="0"/>
                </a:lnTo>
                <a:lnTo>
                  <a:pt x="18336773" y="3186014"/>
                </a:lnTo>
                <a:lnTo>
                  <a:pt x="0" y="318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7917354" y="-151966"/>
            <a:ext cx="2675891" cy="20328738"/>
            <a:chOff x="0" y="0"/>
            <a:chExt cx="432040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2040" cy="3282205"/>
            </a:xfrm>
            <a:custGeom>
              <a:avLst/>
              <a:gdLst/>
              <a:ahLst/>
              <a:cxnLst/>
              <a:rect l="l" t="t" r="r" b="b"/>
              <a:pathLst>
                <a:path w="432040" h="3282205">
                  <a:moveTo>
                    <a:pt x="0" y="0"/>
                  </a:moveTo>
                  <a:lnTo>
                    <a:pt x="432040" y="0"/>
                  </a:lnTo>
                  <a:lnTo>
                    <a:pt x="432040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2040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10766903">
            <a:off x="-1857683" y="8444114"/>
            <a:ext cx="22003366" cy="3823085"/>
          </a:xfrm>
          <a:custGeom>
            <a:avLst/>
            <a:gdLst/>
            <a:ahLst/>
            <a:cxnLst/>
            <a:rect l="l" t="t" r="r" b="b"/>
            <a:pathLst>
              <a:path w="22003366" h="3823085">
                <a:moveTo>
                  <a:pt x="0" y="0"/>
                </a:moveTo>
                <a:lnTo>
                  <a:pt x="22003366" y="0"/>
                </a:lnTo>
                <a:lnTo>
                  <a:pt x="22003366" y="3823085"/>
                </a:lnTo>
                <a:lnTo>
                  <a:pt x="0" y="38230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5426346">
            <a:off x="8846548" y="191288"/>
            <a:ext cx="1489766" cy="20328738"/>
            <a:chOff x="0" y="0"/>
            <a:chExt cx="24053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0532" cy="3282205"/>
            </a:xfrm>
            <a:custGeom>
              <a:avLst/>
              <a:gdLst/>
              <a:ahLst/>
              <a:cxnLst/>
              <a:rect l="l" t="t" r="r" b="b"/>
              <a:pathLst>
                <a:path w="240532" h="3282205">
                  <a:moveTo>
                    <a:pt x="0" y="0"/>
                  </a:moveTo>
                  <a:lnTo>
                    <a:pt x="240532" y="0"/>
                  </a:lnTo>
                  <a:lnTo>
                    <a:pt x="24053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053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3234064">
            <a:off x="-3143540" y="352885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2172685">
            <a:off x="-2167342" y="-5966217"/>
            <a:ext cx="5280133" cy="12462121"/>
            <a:chOff x="0" y="0"/>
            <a:chExt cx="1390652" cy="32822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3234064">
            <a:off x="-4074180" y="17873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 rot="2172685">
            <a:off x="-3004718" y="-6495904"/>
            <a:ext cx="5280133" cy="12462121"/>
            <a:chOff x="0" y="0"/>
            <a:chExt cx="1390652" cy="32822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403913" y="857250"/>
            <a:ext cx="10617348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METHODOLOGY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003157" y="2480310"/>
            <a:ext cx="7706861" cy="19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3587219" y="4624972"/>
            <a:ext cx="360805" cy="36080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93E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46314" y="3195138"/>
            <a:ext cx="16107939" cy="472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2559" lvl="1" indent="-366280" algn="l">
              <a:lnSpc>
                <a:spcPts val="4750"/>
              </a:lnSpc>
              <a:buFont typeface="Arial"/>
              <a:buChar char="•"/>
            </a:pPr>
            <a:r>
              <a:rPr lang="en-US" sz="3393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Panel Regression (OLS): Mean-return analysis, firm-specific heterogeneity</a:t>
            </a:r>
          </a:p>
          <a:p>
            <a:pPr marL="732559" lvl="1" indent="-366280" algn="l">
              <a:lnSpc>
                <a:spcPts val="4750"/>
              </a:lnSpc>
              <a:buFont typeface="Arial"/>
              <a:buChar char="•"/>
            </a:pPr>
            <a:r>
              <a:rPr lang="en-US" sz="3393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Event Dummies: COVID-19 &amp; Ukraine war</a:t>
            </a:r>
          </a:p>
          <a:p>
            <a:pPr marL="732559" lvl="1" indent="-366280" algn="l">
              <a:lnSpc>
                <a:spcPts val="4750"/>
              </a:lnSpc>
              <a:buFont typeface="Arial"/>
              <a:buChar char="•"/>
            </a:pPr>
            <a:r>
              <a:rPr lang="en-US" sz="3393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Volatility Modeling:</a:t>
            </a:r>
          </a:p>
          <a:p>
            <a:pPr marL="732559" lvl="1" indent="-366280" algn="l">
              <a:lnSpc>
                <a:spcPts val="4750"/>
              </a:lnSpc>
              <a:buFont typeface="Arial"/>
              <a:buChar char="•"/>
            </a:pPr>
            <a:r>
              <a:rPr lang="en-US" sz="3393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GARCH: Persistence &amp; clustering</a:t>
            </a:r>
          </a:p>
          <a:p>
            <a:pPr marL="732559" lvl="1" indent="-366280" algn="l">
              <a:lnSpc>
                <a:spcPts val="4750"/>
              </a:lnSpc>
              <a:buFont typeface="Arial"/>
              <a:buChar char="•"/>
            </a:pPr>
            <a:r>
              <a:rPr lang="en-US" sz="3393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EGARCH: Leverage effects &amp; asymmetric shocks</a:t>
            </a:r>
          </a:p>
          <a:p>
            <a:pPr marL="732559" lvl="1" indent="-366280" algn="l">
              <a:lnSpc>
                <a:spcPts val="4750"/>
              </a:lnSpc>
              <a:buFont typeface="Arial"/>
              <a:buChar char="•"/>
            </a:pPr>
            <a:r>
              <a:rPr lang="en-US" sz="3393" spc="237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Tools: Python for regression &amp; volatility modeling</a:t>
            </a:r>
          </a:p>
          <a:p>
            <a:pPr algn="l">
              <a:lnSpc>
                <a:spcPts val="4750"/>
              </a:lnSpc>
            </a:pPr>
            <a:endParaRPr lang="en-US" sz="3393" spc="237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27961" y="8226431"/>
            <a:ext cx="18336773" cy="3186014"/>
          </a:xfrm>
          <a:custGeom>
            <a:avLst/>
            <a:gdLst/>
            <a:ahLst/>
            <a:cxnLst/>
            <a:rect l="l" t="t" r="r" b="b"/>
            <a:pathLst>
              <a:path w="18336773" h="3186014">
                <a:moveTo>
                  <a:pt x="0" y="0"/>
                </a:moveTo>
                <a:lnTo>
                  <a:pt x="18336773" y="0"/>
                </a:lnTo>
                <a:lnTo>
                  <a:pt x="18336773" y="3186014"/>
                </a:lnTo>
                <a:lnTo>
                  <a:pt x="0" y="3186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7894939" y="158747"/>
            <a:ext cx="2675891" cy="20328738"/>
            <a:chOff x="0" y="0"/>
            <a:chExt cx="432040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2040" cy="3282205"/>
            </a:xfrm>
            <a:custGeom>
              <a:avLst/>
              <a:gdLst/>
              <a:ahLst/>
              <a:cxnLst/>
              <a:rect l="l" t="t" r="r" b="b"/>
              <a:pathLst>
                <a:path w="432040" h="3282205">
                  <a:moveTo>
                    <a:pt x="0" y="0"/>
                  </a:moveTo>
                  <a:lnTo>
                    <a:pt x="432040" y="0"/>
                  </a:lnTo>
                  <a:lnTo>
                    <a:pt x="432040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93E4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2040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10766903">
            <a:off x="42872" y="9073362"/>
            <a:ext cx="18336773" cy="3186014"/>
          </a:xfrm>
          <a:custGeom>
            <a:avLst/>
            <a:gdLst/>
            <a:ahLst/>
            <a:cxnLst/>
            <a:rect l="l" t="t" r="r" b="b"/>
            <a:pathLst>
              <a:path w="18336773" h="3186014">
                <a:moveTo>
                  <a:pt x="0" y="0"/>
                </a:moveTo>
                <a:lnTo>
                  <a:pt x="18336773" y="0"/>
                </a:lnTo>
                <a:lnTo>
                  <a:pt x="18336773" y="3186015"/>
                </a:lnTo>
                <a:lnTo>
                  <a:pt x="0" y="31860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5400000">
            <a:off x="8712833" y="122631"/>
            <a:ext cx="1489766" cy="20328738"/>
            <a:chOff x="0" y="0"/>
            <a:chExt cx="24053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0532" cy="3282205"/>
            </a:xfrm>
            <a:custGeom>
              <a:avLst/>
              <a:gdLst/>
              <a:ahLst/>
              <a:cxnLst/>
              <a:rect l="l" t="t" r="r" b="b"/>
              <a:pathLst>
                <a:path w="240532" h="3282205">
                  <a:moveTo>
                    <a:pt x="0" y="0"/>
                  </a:moveTo>
                  <a:lnTo>
                    <a:pt x="240532" y="0"/>
                  </a:lnTo>
                  <a:lnTo>
                    <a:pt x="24053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053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847725"/>
            <a:ext cx="15979379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DESCRIPTIVE STATISTICS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113736" y="2480310"/>
            <a:ext cx="873121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629999" y="3569455"/>
            <a:ext cx="17205773" cy="3520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9317" lvl="1" indent="-364659" algn="ctr">
              <a:lnSpc>
                <a:spcPts val="4729"/>
              </a:lnSpc>
              <a:buFont typeface="Arial"/>
              <a:buChar char="•"/>
            </a:pPr>
            <a:r>
              <a:rPr lang="en-US" sz="3378" spc="23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USA: Mean stock return 0.83%, high volatility, positive skewness &amp; high kurtosis</a:t>
            </a:r>
          </a:p>
          <a:p>
            <a:pPr marL="729317" lvl="1" indent="-364659" algn="ctr">
              <a:lnSpc>
                <a:spcPts val="4729"/>
              </a:lnSpc>
              <a:buFont typeface="Arial"/>
              <a:buChar char="•"/>
            </a:pPr>
            <a:r>
              <a:rPr lang="en-US" sz="3378" spc="23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Europe: Mean stock return 0.01%, lower volatility, occasional sharp movements</a:t>
            </a:r>
          </a:p>
          <a:p>
            <a:pPr marL="729317" lvl="1" indent="-364659" algn="ctr">
              <a:lnSpc>
                <a:spcPts val="4729"/>
              </a:lnSpc>
              <a:buFont typeface="Arial"/>
              <a:buChar char="•"/>
            </a:pPr>
            <a:r>
              <a:rPr lang="en-US" sz="3378" spc="23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Macro overview: GDP, CPI, interest rates trends for each region</a:t>
            </a:r>
          </a:p>
          <a:p>
            <a:pPr algn="ctr">
              <a:lnSpc>
                <a:spcPts val="4729"/>
              </a:lnSpc>
            </a:pPr>
            <a:endParaRPr lang="en-US" sz="3378" spc="236">
              <a:solidFill>
                <a:srgbClr val="FFFFFF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916774">
            <a:off x="-2876537" y="381017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2489975">
            <a:off x="-1793689" y="-6118273"/>
            <a:ext cx="5280133" cy="12462121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916774">
            <a:off x="-3772339" y="-38341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2"/>
                </a:lnTo>
                <a:lnTo>
                  <a:pt x="0" y="19531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2489975">
            <a:off x="-2578682" y="-6722881"/>
            <a:ext cx="5280133" cy="12462121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2844341">
            <a:off x="10423848" y="250397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8251091">
            <a:off x="14841168" y="-6760705"/>
            <a:ext cx="5280133" cy="12462121"/>
            <a:chOff x="0" y="0"/>
            <a:chExt cx="1390652" cy="32822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2844341">
            <a:off x="10934820" y="-596497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 rot="8251091">
            <a:off x="15524751" y="-7477977"/>
            <a:ext cx="5280133" cy="12462121"/>
            <a:chOff x="0" y="0"/>
            <a:chExt cx="1390652" cy="32822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428537" y="847725"/>
            <a:ext cx="15830763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PANEL OLS REGRESSION</a:t>
            </a:r>
          </a:p>
        </p:txBody>
      </p:sp>
      <p:sp>
        <p:nvSpPr>
          <p:cNvPr id="19" name="AutoShape 19"/>
          <p:cNvSpPr/>
          <p:nvPr/>
        </p:nvSpPr>
        <p:spPr>
          <a:xfrm>
            <a:off x="4169131" y="2489835"/>
            <a:ext cx="1080933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423189" y="3791181"/>
            <a:ext cx="17441623" cy="47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Company-level OLS: Firm-specific factors explain little variation of the stock return variation (R² ~0.003–0.007)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FX Volatility: Positive effect on stock returns (Europe stronger β=0.5010 vs USA β=0.1975)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Firm characteristics: Leverage &amp; size impact returns differently in US vs Europe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6800474">
            <a:off x="12649216" y="6057605"/>
            <a:ext cx="8774080" cy="1524496"/>
          </a:xfrm>
          <a:custGeom>
            <a:avLst/>
            <a:gdLst/>
            <a:ahLst/>
            <a:cxnLst/>
            <a:rect l="l" t="t" r="r" b="b"/>
            <a:pathLst>
              <a:path w="8774080" h="1524496">
                <a:moveTo>
                  <a:pt x="0" y="0"/>
                </a:moveTo>
                <a:lnTo>
                  <a:pt x="8774080" y="0"/>
                </a:lnTo>
                <a:lnTo>
                  <a:pt x="8774080" y="1524497"/>
                </a:lnTo>
                <a:lnTo>
                  <a:pt x="0" y="1524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9392774">
            <a:off x="16903913" y="2145600"/>
            <a:ext cx="4121374" cy="9727228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6800474">
            <a:off x="13634507" y="5876598"/>
            <a:ext cx="8774080" cy="1524496"/>
          </a:xfrm>
          <a:custGeom>
            <a:avLst/>
            <a:gdLst/>
            <a:ahLst/>
            <a:cxnLst/>
            <a:rect l="l" t="t" r="r" b="b"/>
            <a:pathLst>
              <a:path w="8774080" h="1524496">
                <a:moveTo>
                  <a:pt x="0" y="0"/>
                </a:moveTo>
                <a:lnTo>
                  <a:pt x="8774080" y="0"/>
                </a:lnTo>
                <a:lnTo>
                  <a:pt x="8774080" y="1524496"/>
                </a:lnTo>
                <a:lnTo>
                  <a:pt x="0" y="1524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9392774">
            <a:off x="17632685" y="2404501"/>
            <a:ext cx="4121374" cy="9727228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34099" y="923925"/>
            <a:ext cx="12577882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EXTENDED OLS WITH MACRO VARIABLES</a:t>
            </a:r>
          </a:p>
        </p:txBody>
      </p:sp>
      <p:sp>
        <p:nvSpPr>
          <p:cNvPr id="11" name="Freeform 11"/>
          <p:cNvSpPr/>
          <p:nvPr/>
        </p:nvSpPr>
        <p:spPr>
          <a:xfrm rot="2897456">
            <a:off x="12020590" y="2481804"/>
            <a:ext cx="8774080" cy="1524496"/>
          </a:xfrm>
          <a:custGeom>
            <a:avLst/>
            <a:gdLst/>
            <a:ahLst/>
            <a:cxnLst/>
            <a:rect l="l" t="t" r="r" b="b"/>
            <a:pathLst>
              <a:path w="8774080" h="1524496">
                <a:moveTo>
                  <a:pt x="0" y="0"/>
                </a:moveTo>
                <a:lnTo>
                  <a:pt x="8774080" y="0"/>
                </a:lnTo>
                <a:lnTo>
                  <a:pt x="8774080" y="1524497"/>
                </a:lnTo>
                <a:lnTo>
                  <a:pt x="0" y="15244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 rot="8304206">
            <a:off x="15332051" y="-3288074"/>
            <a:ext cx="4121374" cy="9727228"/>
            <a:chOff x="0" y="0"/>
            <a:chExt cx="1390652" cy="328220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2897456">
            <a:off x="12272092" y="1512109"/>
            <a:ext cx="8774080" cy="1524496"/>
          </a:xfrm>
          <a:custGeom>
            <a:avLst/>
            <a:gdLst/>
            <a:ahLst/>
            <a:cxnLst/>
            <a:rect l="l" t="t" r="r" b="b"/>
            <a:pathLst>
              <a:path w="8774080" h="1524496">
                <a:moveTo>
                  <a:pt x="0" y="0"/>
                </a:moveTo>
                <a:lnTo>
                  <a:pt x="8774080" y="0"/>
                </a:lnTo>
                <a:lnTo>
                  <a:pt x="8774080" y="1524496"/>
                </a:lnTo>
                <a:lnTo>
                  <a:pt x="0" y="1524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 rot="8304206">
            <a:off x="15874203" y="-3839625"/>
            <a:ext cx="4121374" cy="9727228"/>
            <a:chOff x="0" y="0"/>
            <a:chExt cx="1390652" cy="328220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810033" y="3330486"/>
            <a:ext cx="14773474" cy="5292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USA: Macroeconomic factors insignificant (R² ~0.0008)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Europe: Total assets &amp; debt positively impact returns; macro variables mostly insignificant</a:t>
            </a:r>
          </a:p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Conclusion: Firm-level factors more important than macro variables for monthly returns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20834">
            <a:off x="-1286186" y="7656554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8220834">
            <a:off x="-1598870" y="8278662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233433" y="470995"/>
            <a:ext cx="13555259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PANEL OLS WITH EVEN DUMMIES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245026" y="2744295"/>
            <a:ext cx="553207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-3212654">
            <a:off x="-1973300" y="2319743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4" y="0"/>
                </a:lnTo>
                <a:lnTo>
                  <a:pt x="7912984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 rot="2194095">
            <a:off x="-1281420" y="-2137299"/>
            <a:ext cx="3716898" cy="8772589"/>
            <a:chOff x="0" y="0"/>
            <a:chExt cx="1390652" cy="328220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-3212654">
            <a:off x="-2626933" y="2079840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4" y="0"/>
                </a:lnTo>
                <a:lnTo>
                  <a:pt x="7912984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17"/>
          <p:cNvGrpSpPr/>
          <p:nvPr/>
        </p:nvGrpSpPr>
        <p:grpSpPr>
          <a:xfrm rot="2194095">
            <a:off x="-1868549" y="-2513830"/>
            <a:ext cx="3716898" cy="8772589"/>
            <a:chOff x="0" y="0"/>
            <a:chExt cx="1390652" cy="328220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43540" y="3736783"/>
            <a:ext cx="15515760" cy="397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COVID-19: Slight positive impact in US; negative &amp; significant in Europe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Ukraine war: Significant negative impact in Europe; minimal in US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Highlights regional differences in response to global events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8220834">
            <a:off x="-1286186" y="7656554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-2814084">
            <a:off x="-101335" y="5268511"/>
            <a:ext cx="3716898" cy="8772589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8220834">
            <a:off x="-1598870" y="8278662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3212654">
            <a:off x="-1973300" y="2319743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4" y="0"/>
                </a:lnTo>
                <a:lnTo>
                  <a:pt x="7912984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 rot="2194095">
            <a:off x="-1281420" y="-2137299"/>
            <a:ext cx="3716898" cy="8772589"/>
            <a:chOff x="0" y="0"/>
            <a:chExt cx="1390652" cy="328220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 rot="-3212654">
            <a:off x="-2626933" y="2079840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4" y="0"/>
                </a:lnTo>
                <a:lnTo>
                  <a:pt x="7912984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 rot="2194095">
            <a:off x="-1868549" y="-2513830"/>
            <a:ext cx="3716898" cy="8772589"/>
            <a:chOff x="0" y="0"/>
            <a:chExt cx="1390652" cy="32822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266593" y="493980"/>
            <a:ext cx="12992707" cy="2273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VOLATILITY ANALYSIS (GARCH &amp; EGARCH)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996910" y="3026234"/>
            <a:ext cx="553207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2357621" y="3812515"/>
            <a:ext cx="15509582" cy="3971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USA: Low GARCH effects; weak EGARCH leverage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Europe: Strong volatility persistence, clusters, asymmetric response to shocks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Event dummies mainly affect volatility, not mean returns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Suggests need for time-varying and asymmetric modeling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20018" y="828675"/>
            <a:ext cx="12304430" cy="1642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39"/>
              </a:lnSpc>
            </a:pPr>
            <a:r>
              <a:rPr lang="en-US" sz="96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DIAGNOSTIC TESTS</a:t>
            </a:r>
          </a:p>
        </p:txBody>
      </p:sp>
      <p:sp>
        <p:nvSpPr>
          <p:cNvPr id="3" name="AutoShape 3"/>
          <p:cNvSpPr/>
          <p:nvPr/>
        </p:nvSpPr>
        <p:spPr>
          <a:xfrm>
            <a:off x="4281499" y="2470785"/>
            <a:ext cx="9725001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8220834">
            <a:off x="-1886423" y="7210510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4" y="0"/>
                </a:lnTo>
                <a:lnTo>
                  <a:pt x="7912984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 rot="-2814084">
            <a:off x="-829749" y="4740856"/>
            <a:ext cx="3716898" cy="8772589"/>
            <a:chOff x="0" y="0"/>
            <a:chExt cx="1390652" cy="32822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8220834">
            <a:off x="-1598870" y="8278662"/>
            <a:ext cx="7912983" cy="1374881"/>
          </a:xfrm>
          <a:custGeom>
            <a:avLst/>
            <a:gdLst/>
            <a:ahLst/>
            <a:cxnLst/>
            <a:rect l="l" t="t" r="r" b="b"/>
            <a:pathLst>
              <a:path w="7912983" h="1374881">
                <a:moveTo>
                  <a:pt x="0" y="0"/>
                </a:moveTo>
                <a:lnTo>
                  <a:pt x="7912983" y="0"/>
                </a:lnTo>
                <a:lnTo>
                  <a:pt x="7912983" y="1374881"/>
                </a:lnTo>
                <a:lnTo>
                  <a:pt x="0" y="1374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 rot="-2814084">
            <a:off x="-542197" y="5809008"/>
            <a:ext cx="3716898" cy="8772589"/>
            <a:chOff x="0" y="0"/>
            <a:chExt cx="1390652" cy="32822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0" y="4536883"/>
            <a:ext cx="18288000" cy="237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Correlogram &amp; ARCH tests: Residuals show no significant serial correlation or conditional heteroskedasticity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Confirms reliability of GARCH/EGARCH models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44598" y="904875"/>
            <a:ext cx="12998805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COMPARATIVE ANALYSIS</a:t>
            </a:r>
          </a:p>
        </p:txBody>
      </p:sp>
      <p:sp>
        <p:nvSpPr>
          <p:cNvPr id="3" name="AutoShape 3"/>
          <p:cNvSpPr/>
          <p:nvPr/>
        </p:nvSpPr>
        <p:spPr>
          <a:xfrm>
            <a:off x="2762615" y="2480310"/>
            <a:ext cx="1264742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3514725"/>
            <a:ext cx="18288000" cy="317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 firms: Longer volatility persistence, stronger leverage effects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European firms: Rapid shock absorption, stronger event-driven volatility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Implication: Regional differences crucial for understanding stock return dynamics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636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451688" y="904875"/>
            <a:ext cx="13384623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 &amp; IMPLICATIONS</a:t>
            </a:r>
          </a:p>
        </p:txBody>
      </p:sp>
      <p:sp>
        <p:nvSpPr>
          <p:cNvPr id="3" name="AutoShape 3"/>
          <p:cNvSpPr/>
          <p:nvPr/>
        </p:nvSpPr>
        <p:spPr>
          <a:xfrm>
            <a:off x="2910226" y="2480310"/>
            <a:ext cx="1264742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0" y="2927985"/>
            <a:ext cx="18288000" cy="538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ctr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FX volatility significantly impacts stock returns; Europe more sensitive.</a:t>
            </a:r>
          </a:p>
          <a:p>
            <a:pPr marL="971550" lvl="1" indent="-485775" algn="ctr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H1 &amp; H2 confirmed; H3 partially supported (pandemic minor effect, Ukraine war region-specific).</a:t>
            </a:r>
          </a:p>
          <a:p>
            <a:pPr marL="971550" lvl="1" indent="-485775" algn="ctr">
              <a:lnSpc>
                <a:spcPts val="6299"/>
              </a:lnSpc>
              <a:spcBef>
                <a:spcPct val="0"/>
              </a:spcBef>
              <a:buFont typeface="Arial"/>
              <a:buChar char="•"/>
            </a:pPr>
            <a:r>
              <a:rPr lang="en-US" sz="45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Firm-level characteristics (size, leverage, export intensity) critical; macro factors less so.</a:t>
            </a:r>
          </a:p>
          <a:p>
            <a:pPr marL="863599" lvl="1" indent="-431800" algn="ctr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Policy &amp; investment implication: Hedging &amp; strategic risk management essential for exporters.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93E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299043">
            <a:off x="-1746670" y="4230785"/>
            <a:ext cx="11240987" cy="1825430"/>
          </a:xfrm>
          <a:custGeom>
            <a:avLst/>
            <a:gdLst/>
            <a:ahLst/>
            <a:cxnLst/>
            <a:rect l="l" t="t" r="r" b="b"/>
            <a:pathLst>
              <a:path w="11240987" h="1825430">
                <a:moveTo>
                  <a:pt x="0" y="0"/>
                </a:moveTo>
                <a:lnTo>
                  <a:pt x="11240987" y="0"/>
                </a:lnTo>
                <a:lnTo>
                  <a:pt x="11240987" y="1825430"/>
                </a:lnTo>
                <a:lnTo>
                  <a:pt x="0" y="18254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699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 rot="1107706">
            <a:off x="-921467" y="-1570623"/>
            <a:ext cx="5280133" cy="12462121"/>
            <a:chOff x="0" y="0"/>
            <a:chExt cx="1390652" cy="3282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36363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4299043">
            <a:off x="-2646668" y="4025505"/>
            <a:ext cx="11240987" cy="1953121"/>
          </a:xfrm>
          <a:custGeom>
            <a:avLst/>
            <a:gdLst/>
            <a:ahLst/>
            <a:cxnLst/>
            <a:rect l="l" t="t" r="r" b="b"/>
            <a:pathLst>
              <a:path w="11240987" h="1953121">
                <a:moveTo>
                  <a:pt x="0" y="0"/>
                </a:moveTo>
                <a:lnTo>
                  <a:pt x="11240987" y="0"/>
                </a:lnTo>
                <a:lnTo>
                  <a:pt x="11240987" y="1953121"/>
                </a:lnTo>
                <a:lnTo>
                  <a:pt x="0" y="19531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 rot="1107706">
            <a:off x="-1880460" y="-1819814"/>
            <a:ext cx="5280133" cy="12462121"/>
            <a:chOff x="0" y="0"/>
            <a:chExt cx="1390652" cy="32822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90652" cy="3282205"/>
            </a:xfrm>
            <a:custGeom>
              <a:avLst/>
              <a:gdLst/>
              <a:ahLst/>
              <a:cxnLst/>
              <a:rect l="l" t="t" r="r" b="b"/>
              <a:pathLst>
                <a:path w="1390652" h="3282205">
                  <a:moveTo>
                    <a:pt x="0" y="0"/>
                  </a:moveTo>
                  <a:lnTo>
                    <a:pt x="1390652" y="0"/>
                  </a:lnTo>
                  <a:lnTo>
                    <a:pt x="1390652" y="3282205"/>
                  </a:lnTo>
                  <a:lnTo>
                    <a:pt x="0" y="3282205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90652" cy="3320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6703396" y="2742983"/>
            <a:ext cx="9232099" cy="3003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72"/>
              </a:lnSpc>
            </a:pPr>
            <a:r>
              <a:rPr lang="en-US" sz="1755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95284" y="5307268"/>
            <a:ext cx="5048322" cy="2406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90"/>
              </a:lnSpc>
            </a:pPr>
            <a:r>
              <a:rPr lang="en-US" sz="14064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903</Words>
  <Application>Microsoft Office PowerPoint</Application>
  <PresentationFormat>Custom</PresentationFormat>
  <Paragraphs>89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Glacial Indifference</vt:lpstr>
      <vt:lpstr>Calibri</vt:lpstr>
      <vt:lpstr>Times New Roman</vt:lpstr>
      <vt:lpstr>Aptos</vt:lpstr>
      <vt:lpstr>Arial</vt:lpstr>
      <vt:lpstr>Symbol</vt:lpstr>
      <vt:lpstr>Glacial Indifference Bold</vt:lpstr>
      <vt:lpstr>League Spartan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 of Currency Volatility on Stock Returns of Export-Oriented Firms in USA and Europe (2010–2024)</dc:title>
  <dc:creator>lenovo</dc:creator>
  <cp:lastModifiedBy>VIKAS GUPTA</cp:lastModifiedBy>
  <cp:revision>2</cp:revision>
  <dcterms:created xsi:type="dcterms:W3CDTF">2006-08-16T00:00:00Z</dcterms:created>
  <dcterms:modified xsi:type="dcterms:W3CDTF">2025-11-14T02:35:04Z</dcterms:modified>
  <dc:identifier>DAG4oWjMjf4</dc:identifier>
</cp:coreProperties>
</file>